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igura a mano libera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igura a mano libera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olo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17" name="Sottotitolo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it-IT" smtClean="0"/>
              <a:t>Fare clic per modificare lo stile del sottotitolo dello schema</a:t>
            </a:r>
            <a:endParaRPr kumimoji="0" lang="en-US"/>
          </a:p>
        </p:txBody>
      </p:sp>
      <p:sp>
        <p:nvSpPr>
          <p:cNvPr id="30" name="Segnaposto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99D5-C385-41FC-9CD0-7221F2BAF45D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19" name="Segnaposto piè di pagina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27" name="Segnaposto numero diapositiva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57C35-A3D4-4985-92AF-7CB62321AD24}" type="slidenum">
              <a:rPr lang="it-IT" smtClean="0"/>
              <a:t>‹N›</a:t>
            </a:fld>
            <a:endParaRPr lang="it-IT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99D5-C385-41FC-9CD0-7221F2BAF45D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57C35-A3D4-4985-92AF-7CB62321AD24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igura a mano libera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igura a mano libera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99D5-C385-41FC-9CD0-7221F2BAF45D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57C35-A3D4-4985-92AF-7CB62321AD24}" type="slidenum">
              <a:rPr lang="it-IT" smtClean="0"/>
              <a:t>‹N›</a:t>
            </a:fld>
            <a:endParaRPr lang="it-IT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99D5-C385-41FC-9CD0-7221F2BAF45D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57C35-A3D4-4985-92AF-7CB62321AD24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99D5-C385-41FC-9CD0-7221F2BAF45D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57C35-A3D4-4985-92AF-7CB62321AD24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99D5-C385-41FC-9CD0-7221F2BAF45D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8" name="Segnaposto numero diapositiva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057C35-A3D4-4985-92AF-7CB62321AD24}" type="slidenum">
              <a:rPr lang="it-IT" smtClean="0"/>
              <a:t>‹N›</a:t>
            </a:fld>
            <a:endParaRPr lang="it-IT"/>
          </a:p>
        </p:txBody>
      </p:sp>
      <p:sp>
        <p:nvSpPr>
          <p:cNvPr id="9" name="Segnaposto piè di pagina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99D5-C385-41FC-9CD0-7221F2BAF45D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57C35-A3D4-4985-92AF-7CB62321AD24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99D5-C385-41FC-9CD0-7221F2BAF45D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DE057C35-A3D4-4985-92AF-7CB62321AD24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it-IT" smtClean="0"/>
              <a:t>Fare clic sull'icona per inserire un'immagine</a:t>
            </a:r>
            <a:endParaRPr kumimoji="0" lang="en-US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BE8699D5-C385-41FC-9CD0-7221F2BAF45D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57C35-A3D4-4985-92AF-7CB62321AD24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99D5-C385-41FC-9CD0-7221F2BAF45D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57C35-A3D4-4985-92AF-7CB62321AD24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699D5-C385-41FC-9CD0-7221F2BAF45D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57C35-A3D4-4985-92AF-7CB62321AD24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igura a mano libera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igura a mano libera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egnaposto tito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0" name="Segnaposto testo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  <a:p>
            <a:pPr lvl="1" eaLnBrk="1" latinLnBrk="0" hangingPunct="1"/>
            <a:r>
              <a:rPr kumimoji="0" lang="it-IT" smtClean="0"/>
              <a:t>Secondo livello</a:t>
            </a:r>
          </a:p>
          <a:p>
            <a:pPr lvl="2" eaLnBrk="1" latinLnBrk="0" hangingPunct="1"/>
            <a:r>
              <a:rPr kumimoji="0" lang="it-IT" smtClean="0"/>
              <a:t>Terzo livello</a:t>
            </a:r>
          </a:p>
          <a:p>
            <a:pPr lvl="3" eaLnBrk="1" latinLnBrk="0" hangingPunct="1"/>
            <a:r>
              <a:rPr kumimoji="0" lang="it-IT" smtClean="0"/>
              <a:t>Quarto livello</a:t>
            </a:r>
          </a:p>
          <a:p>
            <a:pPr lvl="4" eaLnBrk="1" latinLnBrk="0" hangingPunct="1"/>
            <a:r>
              <a:rPr kumimoji="0" lang="it-IT" smtClean="0"/>
              <a:t>Quinto livello</a:t>
            </a:r>
            <a:endParaRPr kumimoji="0" lang="en-US"/>
          </a:p>
        </p:txBody>
      </p:sp>
      <p:sp>
        <p:nvSpPr>
          <p:cNvPr id="10" name="Segnaposto data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BE8699D5-C385-41FC-9CD0-7221F2BAF45D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22" name="Segnaposto piè di pagina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18" name="Segnaposto numero diapositiva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DE057C35-A3D4-4985-92AF-7CB62321AD24}" type="slidenum">
              <a:rPr lang="it-IT" smtClean="0"/>
              <a:t>‹N›</a:t>
            </a:fld>
            <a:endParaRPr lang="it-IT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857356" y="142852"/>
            <a:ext cx="5572164" cy="2571768"/>
          </a:xfrm>
        </p:spPr>
        <p:txBody>
          <a:bodyPr>
            <a:normAutofit/>
          </a:bodyPr>
          <a:lstStyle/>
          <a:p>
            <a:pPr algn="ctr"/>
            <a:r>
              <a:rPr lang="it-IT" dirty="0" smtClean="0">
                <a:latin typeface="Elephant" pitchFamily="18" charset="0"/>
              </a:rPr>
              <a:t>LA REGIONE</a:t>
            </a:r>
            <a:br>
              <a:rPr lang="it-IT" dirty="0" smtClean="0">
                <a:latin typeface="Elephant" pitchFamily="18" charset="0"/>
              </a:rPr>
            </a:br>
            <a:r>
              <a:rPr lang="it-IT" dirty="0" smtClean="0">
                <a:latin typeface="Elephant" pitchFamily="18" charset="0"/>
              </a:rPr>
              <a:t>LAZIO</a:t>
            </a:r>
            <a:r>
              <a:rPr lang="it-IT" dirty="0" smtClean="0"/>
              <a:t/>
            </a:r>
            <a:br>
              <a:rPr lang="it-IT" dirty="0" smtClean="0"/>
            </a:b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285720" y="4071942"/>
            <a:ext cx="8358246" cy="2643206"/>
          </a:xfrm>
        </p:spPr>
        <p:txBody>
          <a:bodyPr>
            <a:normAutofit lnSpcReduction="10000"/>
          </a:bodyPr>
          <a:lstStyle/>
          <a:p>
            <a:pPr algn="l"/>
            <a:r>
              <a:rPr lang="it-IT" sz="3600" dirty="0" smtClean="0">
                <a:latin typeface="Bodoni MT Poster Compressed" pitchFamily="18" charset="0"/>
              </a:rPr>
              <a:t>IL NOME LATIUM DA CUI DERIVA LAZIO,DERIVA DALLA PAROLA LATINA LATUS CHE SIGNIFICA “LARGO” E SI RIFERISCE ALLE ZONE PIANEGGIANTI DELLA REGIONE,SITUATE NEI PRESSI DEL TEVERE. POSIZIONE : ITALIA CENTRALE TERRITORIO: PREVALENTEMENTE COLLINARE,COMPRENDE UN</a:t>
            </a:r>
          </a:p>
          <a:p>
            <a:pPr algn="l"/>
            <a:r>
              <a:rPr lang="it-IT" sz="3600" dirty="0" smtClean="0">
                <a:latin typeface="Bodoni MT Poster Compressed" pitchFamily="18" charset="0"/>
              </a:rPr>
              <a:t>BREVE TRATTO DELLA REGIONE </a:t>
            </a:r>
          </a:p>
        </p:txBody>
      </p:sp>
      <p:sp>
        <p:nvSpPr>
          <p:cNvPr id="13314" name="AutoShape 2" descr="File:Map of region of Lazio, Italy.svg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3316" name="AutoShape 4" descr="File:Map of region of Lazio, Italy.svg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7" name="Immagine 6" descr="laz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08" y="1643050"/>
            <a:ext cx="5038724" cy="22860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643570" y="285728"/>
            <a:ext cx="3053868" cy="1143008"/>
          </a:xfrm>
        </p:spPr>
        <p:txBody>
          <a:bodyPr>
            <a:normAutofit/>
          </a:bodyPr>
          <a:lstStyle/>
          <a:p>
            <a:r>
              <a:rPr lang="it-IT" sz="3600" dirty="0" smtClean="0"/>
              <a:t>IL COLOSSEO</a:t>
            </a:r>
            <a:endParaRPr lang="it-IT" sz="3600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572132" y="3000372"/>
            <a:ext cx="3053866" cy="1071570"/>
          </a:xfrm>
        </p:spPr>
        <p:txBody>
          <a:bodyPr>
            <a:normAutofit/>
          </a:bodyPr>
          <a:lstStyle/>
          <a:p>
            <a:r>
              <a:rPr lang="it-IT" sz="3200" dirty="0" smtClean="0">
                <a:solidFill>
                  <a:schemeClr val="accent1"/>
                </a:solidFill>
                <a:latin typeface="+mj-lt"/>
              </a:rPr>
              <a:t>I FORI IMPERIALI</a:t>
            </a:r>
            <a:endParaRPr lang="it-IT" sz="3200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6" name="Immagine 5" descr="colose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10" y="285728"/>
            <a:ext cx="3714776" cy="1785950"/>
          </a:xfrm>
          <a:prstGeom prst="rect">
            <a:avLst/>
          </a:prstGeom>
        </p:spPr>
      </p:pic>
      <p:pic>
        <p:nvPicPr>
          <p:cNvPr id="7" name="Immagine 6" descr="fori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10" y="2428868"/>
            <a:ext cx="3772872" cy="1810710"/>
          </a:xfrm>
          <a:prstGeom prst="rect">
            <a:avLst/>
          </a:prstGeom>
        </p:spPr>
      </p:pic>
      <p:sp>
        <p:nvSpPr>
          <p:cNvPr id="8" name="CasellaDiTesto 7"/>
          <p:cNvSpPr txBox="1"/>
          <p:nvPr/>
        </p:nvSpPr>
        <p:spPr>
          <a:xfrm>
            <a:off x="5857884" y="5072074"/>
            <a:ext cx="29289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smtClean="0">
                <a:solidFill>
                  <a:schemeClr val="accent1"/>
                </a:solidFill>
              </a:rPr>
              <a:t>PIAZZA </a:t>
            </a:r>
            <a:r>
              <a:rPr lang="it-IT" sz="3200" dirty="0" err="1" smtClean="0">
                <a:solidFill>
                  <a:schemeClr val="accent1"/>
                </a:solidFill>
              </a:rPr>
              <a:t>DI</a:t>
            </a:r>
            <a:r>
              <a:rPr lang="it-IT" sz="3200" dirty="0" smtClean="0">
                <a:solidFill>
                  <a:schemeClr val="accent1"/>
                </a:solidFill>
              </a:rPr>
              <a:t> SPAGNA</a:t>
            </a:r>
            <a:endParaRPr lang="it-IT" sz="3200" dirty="0">
              <a:solidFill>
                <a:schemeClr val="accent1"/>
              </a:solidFill>
            </a:endParaRPr>
          </a:p>
        </p:txBody>
      </p:sp>
      <p:pic>
        <p:nvPicPr>
          <p:cNvPr id="9" name="Immagine 8" descr="piazza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10" y="4429132"/>
            <a:ext cx="3714776" cy="20802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idx="2"/>
          </p:nvPr>
        </p:nvSpPr>
        <p:spPr>
          <a:xfrm>
            <a:off x="714348" y="0"/>
            <a:ext cx="5000660" cy="642942"/>
          </a:xfrm>
        </p:spPr>
        <p:txBody>
          <a:bodyPr>
            <a:normAutofit/>
          </a:bodyPr>
          <a:lstStyle/>
          <a:p>
            <a:r>
              <a:rPr lang="it-IT" sz="3200" dirty="0" smtClean="0">
                <a:solidFill>
                  <a:schemeClr val="accent1"/>
                </a:solidFill>
              </a:rPr>
              <a:t>CIBI TIPICI</a:t>
            </a:r>
            <a:endParaRPr lang="it-IT" sz="3200" dirty="0">
              <a:solidFill>
                <a:schemeClr val="accent1"/>
              </a:solidFill>
            </a:endParaRPr>
          </a:p>
        </p:txBody>
      </p:sp>
      <p:sp>
        <p:nvSpPr>
          <p:cNvPr id="4" name="Segnaposto contenuto 3"/>
          <p:cNvSpPr>
            <a:spLocks noGrp="1"/>
          </p:cNvSpPr>
          <p:nvPr>
            <p:ph sz="half" idx="1"/>
          </p:nvPr>
        </p:nvSpPr>
        <p:spPr>
          <a:xfrm>
            <a:off x="4214810" y="714356"/>
            <a:ext cx="7086600" cy="5929354"/>
          </a:xfrm>
        </p:spPr>
        <p:txBody>
          <a:bodyPr>
            <a:normAutofit fontScale="62500" lnSpcReduction="20000"/>
          </a:bodyPr>
          <a:lstStyle/>
          <a:p>
            <a:endParaRPr lang="it-IT" dirty="0" smtClean="0">
              <a:solidFill>
                <a:schemeClr val="accent1"/>
              </a:solidFill>
            </a:endParaRPr>
          </a:p>
          <a:p>
            <a:endParaRPr lang="it-IT" dirty="0" smtClean="0">
              <a:solidFill>
                <a:schemeClr val="accent1"/>
              </a:solidFill>
            </a:endParaRPr>
          </a:p>
          <a:p>
            <a:r>
              <a:rPr lang="it-IT" sz="4500" dirty="0" smtClean="0">
                <a:solidFill>
                  <a:schemeClr val="accent1"/>
                </a:solidFill>
              </a:rPr>
              <a:t>LA PORCHETTA</a:t>
            </a:r>
          </a:p>
          <a:p>
            <a:endParaRPr lang="it-IT" sz="4500" dirty="0" smtClean="0">
              <a:solidFill>
                <a:schemeClr val="accent1"/>
              </a:solidFill>
            </a:endParaRPr>
          </a:p>
          <a:p>
            <a:endParaRPr lang="it-IT" sz="4500" dirty="0" smtClean="0">
              <a:solidFill>
                <a:schemeClr val="accent1"/>
              </a:solidFill>
            </a:endParaRPr>
          </a:p>
          <a:p>
            <a:endParaRPr lang="it-IT" sz="4500" dirty="0" smtClean="0">
              <a:solidFill>
                <a:schemeClr val="accent1"/>
              </a:solidFill>
            </a:endParaRPr>
          </a:p>
          <a:p>
            <a:endParaRPr lang="it-IT" sz="4500" dirty="0" smtClean="0">
              <a:solidFill>
                <a:schemeClr val="accent1"/>
              </a:solidFill>
            </a:endParaRPr>
          </a:p>
          <a:p>
            <a:r>
              <a:rPr lang="it-IT" sz="4500" dirty="0" smtClean="0">
                <a:solidFill>
                  <a:schemeClr val="accent1"/>
                </a:solidFill>
              </a:rPr>
              <a:t>CARBONARA</a:t>
            </a:r>
          </a:p>
          <a:p>
            <a:endParaRPr lang="it-IT" sz="4500" dirty="0" smtClean="0">
              <a:solidFill>
                <a:schemeClr val="accent1"/>
              </a:solidFill>
            </a:endParaRPr>
          </a:p>
          <a:p>
            <a:endParaRPr lang="it-IT" sz="4500" dirty="0" smtClean="0">
              <a:solidFill>
                <a:schemeClr val="accent1"/>
              </a:solidFill>
            </a:endParaRPr>
          </a:p>
          <a:p>
            <a:endParaRPr lang="it-IT" sz="4500" dirty="0" smtClean="0">
              <a:solidFill>
                <a:schemeClr val="accent1"/>
              </a:solidFill>
            </a:endParaRPr>
          </a:p>
          <a:p>
            <a:endParaRPr lang="it-IT" sz="4500" dirty="0" smtClean="0">
              <a:solidFill>
                <a:schemeClr val="accent1"/>
              </a:solidFill>
            </a:endParaRPr>
          </a:p>
          <a:p>
            <a:endParaRPr lang="it-IT" sz="4500" dirty="0" smtClean="0">
              <a:solidFill>
                <a:schemeClr val="accent1"/>
              </a:solidFill>
            </a:endParaRPr>
          </a:p>
          <a:p>
            <a:r>
              <a:rPr lang="it-IT" sz="4500" dirty="0" smtClean="0">
                <a:solidFill>
                  <a:schemeClr val="accent1"/>
                </a:solidFill>
              </a:rPr>
              <a:t>PECORINO</a:t>
            </a:r>
            <a:endParaRPr lang="it-IT" sz="4500" dirty="0">
              <a:solidFill>
                <a:schemeClr val="accent1"/>
              </a:solidFill>
            </a:endParaRPr>
          </a:p>
        </p:txBody>
      </p:sp>
      <p:pic>
        <p:nvPicPr>
          <p:cNvPr id="5" name="Immagine 4" descr="PORCHETT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10" y="785794"/>
            <a:ext cx="3341388" cy="1905000"/>
          </a:xfrm>
          <a:prstGeom prst="rect">
            <a:avLst/>
          </a:prstGeom>
        </p:spPr>
      </p:pic>
      <p:pic>
        <p:nvPicPr>
          <p:cNvPr id="6" name="Immagine 5" descr="carbonara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72" y="3071810"/>
            <a:ext cx="3429024" cy="1697362"/>
          </a:xfrm>
          <a:prstGeom prst="rect">
            <a:avLst/>
          </a:prstGeom>
        </p:spPr>
      </p:pic>
      <p:pic>
        <p:nvPicPr>
          <p:cNvPr id="7" name="Immagine 6" descr="pecorino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72" y="5000636"/>
            <a:ext cx="3429024" cy="16973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142976" y="500042"/>
            <a:ext cx="7786742" cy="1143000"/>
          </a:xfrm>
        </p:spPr>
        <p:txBody>
          <a:bodyPr>
            <a:normAutofit/>
          </a:bodyPr>
          <a:lstStyle/>
          <a:p>
            <a:r>
              <a:rPr lang="it-IT" sz="4400" dirty="0" smtClean="0">
                <a:solidFill>
                  <a:schemeClr val="accent1"/>
                </a:solidFill>
              </a:rPr>
              <a:t>PUCCIARELLA</a:t>
            </a:r>
            <a:endParaRPr lang="it-IT" sz="4400" dirty="0">
              <a:solidFill>
                <a:schemeClr val="accent1"/>
              </a:solidFill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071538" y="1643050"/>
            <a:ext cx="6429420" cy="5214950"/>
          </a:xfrm>
        </p:spPr>
        <p:txBody>
          <a:bodyPr>
            <a:normAutofit/>
          </a:bodyPr>
          <a:lstStyle/>
          <a:p>
            <a:r>
              <a:rPr lang="it-IT" sz="2400" dirty="0" smtClean="0"/>
              <a:t>Protesse la cittadina di </a:t>
            </a:r>
            <a:r>
              <a:rPr lang="it-IT" sz="2400" dirty="0" err="1" smtClean="0"/>
              <a:t>bagnaia</a:t>
            </a:r>
            <a:r>
              <a:rPr lang="it-IT" sz="2400" dirty="0" smtClean="0"/>
              <a:t> nel VXI </a:t>
            </a:r>
            <a:r>
              <a:rPr lang="it-IT" sz="2400" dirty="0" err="1" smtClean="0"/>
              <a:t>dall</a:t>
            </a:r>
            <a:r>
              <a:rPr lang="it-IT" sz="2400" dirty="0" smtClean="0"/>
              <a:t> attacco degli invasori</a:t>
            </a:r>
          </a:p>
          <a:p>
            <a:pPr>
              <a:buNone/>
            </a:pPr>
            <a:r>
              <a:rPr lang="it-IT" sz="4000" dirty="0" smtClean="0">
                <a:solidFill>
                  <a:schemeClr val="accent1"/>
                </a:solidFill>
              </a:rPr>
              <a:t>Clementina </a:t>
            </a:r>
            <a:r>
              <a:rPr lang="it-IT" sz="4000" dirty="0" err="1" smtClean="0">
                <a:solidFill>
                  <a:schemeClr val="accent1"/>
                </a:solidFill>
              </a:rPr>
              <a:t>Caligaris</a:t>
            </a:r>
            <a:endParaRPr lang="it-IT" sz="4000" dirty="0" smtClean="0">
              <a:solidFill>
                <a:schemeClr val="accent1"/>
              </a:solidFill>
            </a:endParaRPr>
          </a:p>
          <a:p>
            <a:r>
              <a:rPr lang="it-IT" sz="2200" dirty="0" smtClean="0"/>
              <a:t>Clementina </a:t>
            </a:r>
            <a:r>
              <a:rPr lang="it-IT" sz="2200" dirty="0" err="1" smtClean="0"/>
              <a:t>Caligaris</a:t>
            </a:r>
            <a:r>
              <a:rPr lang="it-IT" sz="2200" dirty="0" smtClean="0"/>
              <a:t> (1882-1977) è stata una figura centrale del socialismo e del femminismo italiano del Novecento, nota soprattutto per essere stata </a:t>
            </a:r>
            <a:r>
              <a:rPr lang="it-IT" sz="2200" b="1" dirty="0" smtClean="0"/>
              <a:t>la più anziana tra le donne nominate alla Consulta Nazionale</a:t>
            </a:r>
            <a:r>
              <a:rPr lang="it-IT" sz="2200" dirty="0" smtClean="0"/>
              <a:t> (1945-1946). </a:t>
            </a:r>
            <a:endParaRPr lang="it-IT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nologia">
  <a:themeElements>
    <a:clrScheme name="Tecnologia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nologia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nologia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37</TotalTime>
  <Words>80</Words>
  <Application>Microsoft Office PowerPoint</Application>
  <PresentationFormat>Presentazione su schermo (4:3)</PresentationFormat>
  <Paragraphs>25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5" baseType="lpstr">
      <vt:lpstr>Tecnologia</vt:lpstr>
      <vt:lpstr>LA REGIONE LAZIO </vt:lpstr>
      <vt:lpstr>IL COLOSSEO</vt:lpstr>
      <vt:lpstr>Diapositiva 3</vt:lpstr>
      <vt:lpstr>PUCCIARELLA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REGIONE LAZIO</dc:title>
  <dc:creator>User</dc:creator>
  <cp:lastModifiedBy>User</cp:lastModifiedBy>
  <cp:revision>4</cp:revision>
  <dcterms:created xsi:type="dcterms:W3CDTF">2026-03-15T14:53:40Z</dcterms:created>
  <dcterms:modified xsi:type="dcterms:W3CDTF">2026-03-15T15:30:48Z</dcterms:modified>
</cp:coreProperties>
</file>